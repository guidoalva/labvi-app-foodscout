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embeddedFontLst>
    <p:embeddedFont>
      <p:font typeface="JetBrains Mono"/>
      <p:regular r:id="rId16"/>
    </p:embeddedFont>
    <p:embeddedFont>
      <p:font typeface="Plus Jakarta Sans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CF374-07FE-4BCA-9486-5427C7D574DA}" type="datetimeFigureOut">
              <a:rPr lang="es-AR" smtClean="0"/>
              <a:t>22/10/2026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1E702-13B8-4F1C-8064-778A0656E14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304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1E702-13B8-4F1C-8064-778A0656E14F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1971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1E702-13B8-4F1C-8064-778A0656E14F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512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develop/ui/compose/migrate/interoperability-apis/compose-in-views?hl=es-419" TargetMode="External"/><Relationship Id="rId3" Type="http://schemas.openxmlformats.org/officeDocument/2006/relationships/hyperlink" Target="https://developer.android.com/codelabs/jetpack-compose-basics?hl=es-419#0" TargetMode="External"/><Relationship Id="rId7" Type="http://schemas.openxmlformats.org/officeDocument/2006/relationships/hyperlink" Target="https://developer.android.com/develop/ui/compose/migrate/strategy?hl=es-419" TargetMode="External"/><Relationship Id="rId2" Type="http://schemas.openxmlformats.org/officeDocument/2006/relationships/hyperlink" Target="https://developer.android.com/develop/ui/compose/mental-model?hl=es-419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eveloper.android.com/develop/ui/compose/tooling/previews?hl=es-419" TargetMode="External"/><Relationship Id="rId5" Type="http://schemas.openxmlformats.org/officeDocument/2006/relationships/hyperlink" Target="https://developer.android.com/develop/ui/compose/state?hl=es-419" TargetMode="External"/><Relationship Id="rId4" Type="http://schemas.openxmlformats.org/officeDocument/2006/relationships/hyperlink" Target="https://developer.android.com/develop/ui/compose/lifecycle?hl=es-419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619750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97422"/>
            <a:ext cx="1962150" cy="304800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6197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083147"/>
            <a:ext cx="15240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5981700"/>
            <a:ext cx="3048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3476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MONOGRAFÍA - LABORATORIO 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6100" y="623887"/>
            <a:ext cx="11620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UNSE - FCEyT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30822"/>
            <a:ext cx="860107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Jetpack Compose &amp; el nuevo paradigma declarativo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60452"/>
            <a:ext cx="8191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Transformación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la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construcción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de interfaces de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usuario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nativas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Android,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gestión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estado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e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interoperabilidad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064097"/>
            <a:ext cx="1762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Android UI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857875"/>
            <a:ext cx="2881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Guido Sebastián Alvarez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76950"/>
            <a:ext cx="2881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DNI: 38.643.186 | Legajo: 30134/2019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3700" y="6005512"/>
            <a:ext cx="1314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Plus Jakarta Sans"/>
              </a:rPr>
              <a:t>Kotlin Native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553075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09600" y="2293143"/>
            <a:ext cx="5334000" cy="2157412"/>
          </a:xfrm>
          <a:prstGeom prst="roundRect">
            <a:avLst>
              <a:gd name="adj" fmla="val 7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293143"/>
            <a:ext cx="5334000" cy="2157412"/>
          </a:xfrm>
          <a:prstGeom prst="roundRect">
            <a:avLst>
              <a:gd name="adj" fmla="val 706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824537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60746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2607468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87" y="2712243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2712243"/>
            <a:ext cx="1905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Introducción</a:t>
            </a:r>
            <a:endParaRPr sz="15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Evolución de las Interfaces en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140868"/>
            <a:ext cx="303871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0F172A"/>
                </a:solidFill>
                <a:latin typeface="Plus Jakarta Sans"/>
              </a:rPr>
              <a:t>Paradigma</a:t>
            </a:r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000" b="1" i="0" u="none" dirty="0" err="1">
                <a:solidFill>
                  <a:srgbClr val="0F172A"/>
                </a:solidFill>
                <a:latin typeface="Plus Jakarta Sans"/>
              </a:rPr>
              <a:t>Tradicional</a:t>
            </a:r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 (XML)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493293"/>
            <a:ext cx="48006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Árbol de widgets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imperativo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modificado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manualmente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 Alta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complejidad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código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acoplado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propensión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errores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desincronización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entre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estado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y 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140868"/>
            <a:ext cx="184492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369A1"/>
                </a:solidFill>
                <a:latin typeface="Plus Jakarta Sans"/>
              </a:rPr>
              <a:t>Jetpack Compose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493293"/>
            <a:ext cx="48006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Kit de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herramientas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declarativo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100%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Kotlin. La UI describe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qué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debe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mostrarse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función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del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estado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actual,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regenerándose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automáticamente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5743575"/>
            <a:ext cx="273228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94A3B8"/>
                </a:solidFill>
                <a:latin typeface="Plus Jakarta Sans"/>
              </a:rPr>
              <a:t>PREGUNTA CENTRAL DEL ESTUDIO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5934075"/>
            <a:ext cx="927997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¿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Qué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cambia 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en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la 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construcción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de interfaces al 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utilizar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Compose y 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qué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aspectos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deben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considerarse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para </a:t>
            </a:r>
            <a:r>
              <a:rPr sz="1500" b="1" i="0" u="none" dirty="0" err="1">
                <a:solidFill>
                  <a:srgbClr val="F8FAFC"/>
                </a:solidFill>
                <a:latin typeface="Plus Jakarta Sans"/>
              </a:rPr>
              <a:t>adoptarlo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52675"/>
            <a:ext cx="5157787" cy="2809875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24612" y="2352675"/>
            <a:ext cx="5157787" cy="2809875"/>
          </a:xfrm>
          <a:prstGeom prst="roundRect">
            <a:avLst>
              <a:gd name="adj" fmla="val 406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286125"/>
            <a:ext cx="4681537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2737" y="3286125"/>
            <a:ext cx="4681537" cy="13335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76787" y="2590800"/>
            <a:ext cx="752475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53700" y="2590800"/>
            <a:ext cx="790575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643312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791075"/>
            <a:ext cx="12382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737" y="4791075"/>
            <a:ext cx="12382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Cambio de </a:t>
            </a:r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Paradigma</a:t>
            </a:r>
            <a:endParaRPr sz="15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Imperativo vs Declarativo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962275"/>
            <a:ext cx="298415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Paso a paso: "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Cómo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Plus Jakarta Sans"/>
              </a:rPr>
              <a:t>modificar</a:t>
            </a:r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 la vista"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299993"/>
            <a:ext cx="4471987" cy="1083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dirty="0"/>
              <a:t>
</a:t>
            </a:r>
            <a:r>
              <a:rPr sz="9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&lt;</a:t>
            </a:r>
            <a:r>
              <a:rPr sz="1500" b="0" i="0" u="none" dirty="0">
                <a:solidFill>
                  <a:srgbClr val="F43F5E"/>
                </a:solidFill>
                <a:latin typeface="JetBrains Mono"/>
              </a:rPr>
              <a:t>Button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android:id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=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"@+id/</a:t>
            </a:r>
            <a:r>
              <a:rPr sz="1500" b="0" i="0" u="none" dirty="0" err="1">
                <a:solidFill>
                  <a:srgbClr val="38BDF8"/>
                </a:solidFill>
                <a:latin typeface="JetBrains Mono"/>
              </a:rPr>
              <a:t>btn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/&gt;</a:t>
            </a:r>
            <a:r>
              <a:rPr sz="1500" dirty="0"/>
              <a:t>
</a:t>
            </a:r>
            <a:r>
              <a:rPr sz="1500" b="0" i="0" u="none" dirty="0">
                <a:solidFill>
                  <a:srgbClr val="64748B"/>
                </a:solidFill>
                <a:latin typeface="JetBrains Mono"/>
              </a:rPr>
              <a:t>// Kotlin</a:t>
            </a:r>
            <a:r>
              <a:rPr sz="1500" dirty="0"/>
              <a:t>
</a:t>
            </a:r>
            <a:r>
              <a:rPr sz="1500" b="0" i="0" u="none" dirty="0" err="1">
                <a:solidFill>
                  <a:srgbClr val="F43F5E"/>
                </a:solidFill>
                <a:latin typeface="JetBrains Mono"/>
              </a:rPr>
              <a:t>val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btn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=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findViewById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R.id.btn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btn.text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= 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"Hola Mundo"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772025"/>
            <a:ext cx="3038589" cy="230832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EF4444"/>
                </a:solidFill>
                <a:latin typeface="Plus Jakarta Sans"/>
              </a:rPr>
              <a:t>Riesgo</a:t>
            </a:r>
            <a:r>
              <a:rPr sz="1500" b="1" i="0" u="none" dirty="0">
                <a:solidFill>
                  <a:srgbClr val="EF4444"/>
                </a:solidFill>
                <a:latin typeface="Plus Jakarta Sans"/>
              </a:rPr>
              <a:t> de </a:t>
            </a:r>
            <a:r>
              <a:rPr sz="1500" b="1" i="0" u="none" dirty="0" err="1">
                <a:solidFill>
                  <a:srgbClr val="EF4444"/>
                </a:solidFill>
                <a:latin typeface="Plus Jakarta Sans"/>
              </a:rPr>
              <a:t>desincronización</a:t>
            </a:r>
            <a:r>
              <a:rPr sz="1500" b="1" i="0" u="none" dirty="0">
                <a:solidFill>
                  <a:srgbClr val="EF4444"/>
                </a:solidFill>
                <a:latin typeface="Plus Jakarta Sans"/>
              </a:rPr>
              <a:t> de </a:t>
            </a:r>
            <a:r>
              <a:rPr sz="1500" b="1" i="0" u="none" dirty="0" err="1">
                <a:solidFill>
                  <a:srgbClr val="EF4444"/>
                </a:solidFill>
                <a:latin typeface="Plus Jakarta Sans"/>
              </a:rPr>
              <a:t>datos</a:t>
            </a:r>
            <a:r>
              <a:rPr sz="1500" b="1" i="0" u="none" dirty="0">
                <a:solidFill>
                  <a:srgbClr val="EF4444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2737" y="2962275"/>
            <a:ext cx="275254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0369A1"/>
                </a:solidFill>
                <a:latin typeface="Plus Jakarta Sans"/>
              </a:rPr>
              <a:t>Descripción</a:t>
            </a:r>
            <a:r>
              <a:rPr sz="1500" b="0" i="0" u="none" dirty="0">
                <a:solidFill>
                  <a:srgbClr val="0369A1"/>
                </a:solidFill>
                <a:latin typeface="Plus Jakarta Sans"/>
              </a:rPr>
              <a:t>: "</a:t>
            </a:r>
            <a:r>
              <a:rPr sz="1500" b="0" i="0" u="none" dirty="0" err="1">
                <a:solidFill>
                  <a:srgbClr val="0369A1"/>
                </a:solidFill>
                <a:latin typeface="Plus Jakarta Sans"/>
              </a:rPr>
              <a:t>Qué</a:t>
            </a:r>
            <a:r>
              <a:rPr sz="1500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369A1"/>
                </a:solidFill>
                <a:latin typeface="Plus Jakarta Sans"/>
              </a:rPr>
              <a:t>debe</a:t>
            </a:r>
            <a:r>
              <a:rPr sz="1500"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369A1"/>
                </a:solidFill>
                <a:latin typeface="Plus Jakarta Sans"/>
              </a:rPr>
              <a:t>mostrarse</a:t>
            </a:r>
            <a:r>
              <a:rPr sz="1500" b="0" i="0" u="none" dirty="0">
                <a:solidFill>
                  <a:srgbClr val="0369A1"/>
                </a:solidFill>
                <a:latin typeface="Plus Jakarta Sans"/>
              </a:rPr>
              <a:t>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5137" y="3438525"/>
            <a:ext cx="4471987" cy="1083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@Composable</a:t>
            </a:r>
            <a:r>
              <a:rPr sz="1500" dirty="0"/>
              <a:t>
</a:t>
            </a:r>
            <a:r>
              <a:rPr sz="1500" b="0" i="0" u="none" dirty="0">
                <a:solidFill>
                  <a:srgbClr val="F43F5E"/>
                </a:solidFill>
                <a:latin typeface="JetBrains Mono"/>
              </a:rPr>
              <a:t>fun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3DDC84"/>
                </a:solidFill>
                <a:latin typeface="JetBrains Mono"/>
              </a:rPr>
              <a:t>MiBotonSaludo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Button(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onClick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= { </a:t>
            </a:r>
            <a:r>
              <a:rPr sz="1500" b="0" i="0" u="none" dirty="0">
                <a:solidFill>
                  <a:srgbClr val="64748B"/>
                </a:solidFill>
                <a:latin typeface="JetBrains Mono"/>
              </a:rPr>
              <a:t>/* ... */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})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Text(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"Hola Mundo"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2737" y="4772025"/>
            <a:ext cx="2894960" cy="230832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6A34A"/>
                </a:solidFill>
                <a:latin typeface="Plus Jakarta Sans"/>
              </a:rPr>
              <a:t>La UI es </a:t>
            </a:r>
            <a:r>
              <a:rPr sz="1500" b="1" i="0" u="none" dirty="0" err="1">
                <a:solidFill>
                  <a:srgbClr val="16A34A"/>
                </a:solidFill>
                <a:latin typeface="Plus Jakarta Sans"/>
              </a:rPr>
              <a:t>función</a:t>
            </a:r>
            <a:r>
              <a:rPr sz="1500" b="1" i="0" u="none" dirty="0">
                <a:solidFill>
                  <a:srgbClr val="16A34A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16A34A"/>
                </a:solidFill>
                <a:latin typeface="Plus Jakarta Sans"/>
              </a:rPr>
              <a:t>directa</a:t>
            </a:r>
            <a:r>
              <a:rPr sz="1500" b="1" i="0" u="none" dirty="0">
                <a:solidFill>
                  <a:srgbClr val="16A34A"/>
                </a:solidFill>
                <a:latin typeface="Plus Jakarta Sans"/>
              </a:rPr>
              <a:t> del Estado.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600325"/>
            <a:ext cx="221926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64748B"/>
                </a:solidFill>
                <a:latin typeface="Plus Jakarta Sans"/>
              </a:rPr>
              <a:t>Sistema Views (XML)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2987" y="2628900"/>
            <a:ext cx="695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 err="1">
                <a:solidFill>
                  <a:srgbClr val="475569"/>
                </a:solidFill>
                <a:latin typeface="Plus Jakarta Sans"/>
              </a:rPr>
              <a:t>Imperativo</a:t>
            </a:r>
            <a:endParaRPr sz="900" b="1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62737" y="2600325"/>
            <a:ext cx="184492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369A1"/>
                </a:solidFill>
                <a:latin typeface="Plus Jakarta Sans"/>
              </a:rPr>
              <a:t>Jetpack 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9900" y="2628900"/>
            <a:ext cx="733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 err="1">
                <a:solidFill>
                  <a:srgbClr val="0284C7"/>
                </a:solidFill>
                <a:latin typeface="Plus Jakarta Sans"/>
              </a:rPr>
              <a:t>Declarativo</a:t>
            </a:r>
            <a:endParaRPr sz="900" b="1" i="0" u="none" dirty="0">
              <a:solidFill>
                <a:srgbClr val="0284C7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90625"/>
            <a:ext cx="3511599" cy="5133975"/>
          </a:xfrm>
          <a:prstGeom prst="roundRect">
            <a:avLst>
              <a:gd name="adj" fmla="val 32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9799" y="1190625"/>
            <a:ext cx="3511599" cy="5133975"/>
          </a:xfrm>
          <a:prstGeom prst="roundRect">
            <a:avLst>
              <a:gd name="adj" fmla="val 32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89999" y="1190625"/>
            <a:ext cx="3492549" cy="5133975"/>
          </a:xfrm>
          <a:prstGeom prst="roundRect">
            <a:avLst>
              <a:gd name="adj" fmla="val 327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026" y="3243262"/>
            <a:ext cx="2959149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Ciclo</a:t>
            </a:r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 de Vida de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Composición y Recomposición 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24187"/>
            <a:ext cx="100540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FASE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243262"/>
            <a:ext cx="136896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0F172A"/>
                </a:solidFill>
                <a:latin typeface="Plus Jakarta Sans"/>
              </a:rPr>
              <a:t>Composición</a:t>
            </a:r>
            <a:endParaRPr sz="2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3624262"/>
            <a:ext cx="30543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Compose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ejecuta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las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funciones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>
                <a:solidFill>
                  <a:srgbClr val="0284C7"/>
                </a:solidFill>
                <a:latin typeface="Plus Jakarta Sans"/>
              </a:rPr>
              <a:t>@Composable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construye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árbol de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interfaz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gráfica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por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primera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vez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dibuja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los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elementos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pantalla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192" y="3028950"/>
            <a:ext cx="129798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6A34A"/>
                </a:solidFill>
                <a:latin typeface="Plus Jakarta Sans"/>
              </a:rPr>
              <a:t>ACTUALIZACIÓN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192" y="3225343"/>
            <a:ext cx="160915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0F172A"/>
                </a:solidFill>
                <a:latin typeface="Plus Jakarta Sans"/>
              </a:rPr>
              <a:t>Recomposición</a:t>
            </a:r>
            <a:endParaRPr sz="2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68800" y="3565480"/>
            <a:ext cx="3054399" cy="10900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Respuesta 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cambios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estado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emitidos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por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eventos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Reejecuta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únicamente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los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componibles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cuyos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datos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han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cambiado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omitiendo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resto.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9568" y="3222723"/>
            <a:ext cx="237340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F8FAFC"/>
                </a:solidFill>
                <a:latin typeface="Plus Jakarta Sans"/>
              </a:rPr>
              <a:t>Optimización</a:t>
            </a:r>
            <a:r>
              <a:rPr sz="20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2000" b="1" i="0" u="none" dirty="0" err="1">
                <a:solidFill>
                  <a:srgbClr val="F8FAFC"/>
                </a:solidFill>
                <a:latin typeface="Plus Jakarta Sans"/>
              </a:rPr>
              <a:t>Eficiente</a:t>
            </a:r>
            <a:endParaRPr sz="20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9073" y="3624262"/>
            <a:ext cx="3054399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Compose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ignora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funciones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y lambdas con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parámetros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inalterados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logrando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un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rendimiento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óptimo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sin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intervención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manual.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55605" y="2282279"/>
            <a:ext cx="6026794" cy="2950517"/>
          </a:xfrm>
          <a:prstGeom prst="roundRect">
            <a:avLst>
              <a:gd name="adj" fmla="val 387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19387"/>
            <a:ext cx="4641205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833812"/>
            <a:ext cx="4641205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719387"/>
            <a:ext cx="38100" cy="962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833812"/>
            <a:ext cx="38100" cy="9620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Preservación</a:t>
            </a:r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Gestión de Estado: API 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4205" y="2510879"/>
            <a:ext cx="566484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38BDF8"/>
                </a:solidFill>
                <a:latin typeface="Plus Jakarta Sans"/>
              </a:rPr>
              <a:t>Ejemplo</a:t>
            </a:r>
            <a:r>
              <a:rPr sz="1500" b="1" i="0" u="none" dirty="0">
                <a:solidFill>
                  <a:srgbClr val="38BDF8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38BDF8"/>
                </a:solidFill>
                <a:latin typeface="Plus Jakarta Sans"/>
              </a:rPr>
              <a:t>en</a:t>
            </a:r>
            <a:r>
              <a:rPr sz="1500" b="1" i="0" u="none" dirty="0">
                <a:solidFill>
                  <a:srgbClr val="38BDF8"/>
                </a:solidFill>
                <a:latin typeface="Plus Jakarta Sans"/>
              </a:rPr>
              <a:t> Kotlin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4205" y="2825204"/>
            <a:ext cx="5664844" cy="225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@Composable</a:t>
            </a:r>
            <a:r>
              <a:rPr sz="1500" dirty="0"/>
              <a:t>
</a:t>
            </a:r>
            <a:r>
              <a:rPr sz="1500" b="0" i="0" u="none" dirty="0">
                <a:solidFill>
                  <a:srgbClr val="F43F5E"/>
                </a:solidFill>
                <a:latin typeface="JetBrains Mono"/>
              </a:rPr>
              <a:t>fun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3DDC84"/>
                </a:solidFill>
                <a:latin typeface="JetBrains Mono"/>
              </a:rPr>
              <a:t>ContadorResistente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</a:t>
            </a:r>
            <a:r>
              <a:rPr sz="1500" b="0" i="0" u="none" dirty="0">
                <a:solidFill>
                  <a:srgbClr val="64748B"/>
                </a:solidFill>
                <a:latin typeface="JetBrains Mono"/>
              </a:rPr>
              <a:t>// </a:t>
            </a:r>
            <a:r>
              <a:rPr sz="1500" b="0" i="0" u="none" dirty="0" err="1">
                <a:solidFill>
                  <a:srgbClr val="64748B"/>
                </a:solidFill>
                <a:latin typeface="JetBrains Mono"/>
              </a:rPr>
              <a:t>Mantiene</a:t>
            </a:r>
            <a:r>
              <a:rPr sz="1500" b="0" i="0" u="none" dirty="0">
                <a:solidFill>
                  <a:srgbClr val="64748B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JetBrains Mono"/>
              </a:rPr>
              <a:t>el</a:t>
            </a:r>
            <a:r>
              <a:rPr sz="1500" b="0" i="0" u="none" dirty="0">
                <a:solidFill>
                  <a:srgbClr val="64748B"/>
                </a:solidFill>
                <a:latin typeface="JetBrains Mono"/>
              </a:rPr>
              <a:t> valor </a:t>
            </a:r>
            <a:r>
              <a:rPr sz="1500" b="0" i="0" u="none" dirty="0" err="1">
                <a:solidFill>
                  <a:srgbClr val="64748B"/>
                </a:solidFill>
                <a:latin typeface="JetBrains Mono"/>
              </a:rPr>
              <a:t>tras</a:t>
            </a:r>
            <a:r>
              <a:rPr sz="1500" b="0" i="0" u="none" dirty="0">
                <a:solidFill>
                  <a:srgbClr val="64748B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JetBrains Mono"/>
              </a:rPr>
              <a:t>rotar</a:t>
            </a:r>
            <a:r>
              <a:rPr sz="1500" b="0" i="0" u="none" dirty="0">
                <a:solidFill>
                  <a:srgbClr val="64748B"/>
                </a:solidFill>
                <a:latin typeface="JetBrains Mono"/>
              </a:rPr>
              <a:t> la </a:t>
            </a:r>
            <a:r>
              <a:rPr sz="1500" b="0" i="0" u="none" dirty="0" err="1">
                <a:solidFill>
                  <a:srgbClr val="64748B"/>
                </a:solidFill>
                <a:latin typeface="JetBrains Mono"/>
              </a:rPr>
              <a:t>pantalla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</a:t>
            </a:r>
            <a:r>
              <a:rPr sz="1500" b="0" i="0" u="none" dirty="0">
                <a:solidFill>
                  <a:srgbClr val="F43F5E"/>
                </a:solidFill>
                <a:latin typeface="JetBrains Mono"/>
              </a:rPr>
              <a:t>var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contador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>
                <a:solidFill>
                  <a:srgbClr val="F43F5E"/>
                </a:solidFill>
                <a:latin typeface="JetBrains Mono"/>
              </a:rPr>
              <a:t>by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rememberSaveable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mutableStateOf(</a:t>
            </a:r>
            <a:r>
              <a:rPr sz="1500" b="0" i="0" u="none" dirty="0">
                <a:solidFill>
                  <a:srgbClr val="F59E0B"/>
                </a:solidFill>
                <a:latin typeface="JetBrains Mono"/>
              </a:rPr>
              <a:t>0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Button(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onClick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= {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contador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++ })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Text(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</a:t>
            </a:r>
            <a:r>
              <a:rPr sz="1500" b="0" i="0" u="none" dirty="0" err="1">
                <a:solidFill>
                  <a:srgbClr val="38BDF8"/>
                </a:solidFill>
                <a:latin typeface="JetBrains Mono"/>
              </a:rPr>
              <a:t>Clics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: $</a:t>
            </a:r>
            <a:r>
              <a:rPr sz="1500" b="0" i="0" u="none" dirty="0" err="1">
                <a:solidFill>
                  <a:srgbClr val="38BDF8"/>
                </a:solidFill>
                <a:latin typeface="JetBrains Mono"/>
              </a:rPr>
              <a:t>contador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210" y="2840235"/>
            <a:ext cx="112402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remember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148012"/>
            <a:ext cx="431735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Conserva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valor de un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objeto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durante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las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recomposiciones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para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evitar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recalcularlo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destruirlo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210" y="3894236"/>
            <a:ext cx="207499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0F172A"/>
                </a:solidFill>
                <a:latin typeface="Plus Jakarta Sans"/>
              </a:rPr>
              <a:t>rememberSaveable</a:t>
            </a:r>
            <a:endParaRPr sz="2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4262437"/>
            <a:ext cx="431735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Sobrevive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cambios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configuración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(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rotación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pantalla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)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guardando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estado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un Bundle.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86012"/>
            <a:ext cx="5185023" cy="2743200"/>
          </a:xfrm>
          <a:prstGeom prst="roundRect">
            <a:avLst>
              <a:gd name="adj" fmla="val 41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5825" y="2662237"/>
            <a:ext cx="4632573" cy="733425"/>
          </a:xfrm>
          <a:prstGeom prst="roundRect">
            <a:avLst>
              <a:gd name="adj" fmla="val 10389"/>
            </a:avLst>
          </a:prstGeom>
          <a:solidFill>
            <a:srgbClr val="FFFF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4119562"/>
            <a:ext cx="4632573" cy="733425"/>
          </a:xfrm>
          <a:prstGeom prst="roundRect">
            <a:avLst>
              <a:gd name="adj" fmla="val 103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23223" y="3701950"/>
            <a:ext cx="5559176" cy="1297037"/>
          </a:xfrm>
          <a:prstGeom prst="roundRect">
            <a:avLst>
              <a:gd name="adj" fmla="val 881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081" y="3605212"/>
            <a:ext cx="1333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293" y="3605212"/>
            <a:ext cx="1333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Arquitectura</a:t>
            </a:r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 y </a:t>
            </a:r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Patrones</a:t>
            </a:r>
            <a:endParaRPr sz="15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Elevación de Estado (State Hoisting)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153" y="2814637"/>
            <a:ext cx="548591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Componente</a:t>
            </a:r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 Padre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53" y="4271962"/>
            <a:ext cx="548591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64748B"/>
                </a:solidFill>
                <a:latin typeface="Plus Jakarta Sans"/>
              </a:rPr>
              <a:t>Componente</a:t>
            </a:r>
            <a:r>
              <a:rPr sz="1500" b="1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64748B"/>
                </a:solidFill>
                <a:latin typeface="Plus Jakarta Sans"/>
              </a:rPr>
              <a:t>Hijo</a:t>
            </a:r>
            <a:endParaRPr sz="1500" b="1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23223" y="2516088"/>
            <a:ext cx="616877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Flujo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Unidireccional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de Datos (UDF)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3223" y="2906613"/>
            <a:ext cx="5654426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Patrón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que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consiste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mover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estado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hacia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un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componente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superior para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hacerlo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sin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estado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(*stateless*),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desacoplando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lógica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control de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representación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visual.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2591" y="3062287"/>
            <a:ext cx="163903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Administra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el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Estado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8748" y="4519612"/>
            <a:ext cx="278672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Sin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estado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(Stateless) /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Reutilizable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23248" y="3901975"/>
            <a:ext cx="128612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369A1"/>
                </a:solidFill>
                <a:latin typeface="Plus Jakarta Sans"/>
              </a:rPr>
              <a:t>Beneficios</a:t>
            </a:r>
            <a:r>
              <a:rPr sz="1500" b="1" i="0" u="none" dirty="0">
                <a:solidFill>
                  <a:srgbClr val="0369A1"/>
                </a:solidFill>
                <a:latin typeface="Plus Jakarta Sans"/>
              </a:rPr>
              <a:t>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09" y="3786187"/>
            <a:ext cx="92089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6A34A"/>
                </a:solidFill>
                <a:latin typeface="Plus Jakarta Sans"/>
              </a:rPr>
              <a:t>Estado </a:t>
            </a:r>
            <a:r>
              <a:rPr sz="1500" b="1" i="0" u="none" dirty="0" err="1">
                <a:solidFill>
                  <a:srgbClr val="16A34A"/>
                </a:solidFill>
                <a:latin typeface="Plus Jakarta Sans"/>
              </a:rPr>
              <a:t>baja</a:t>
            </a:r>
            <a:endParaRPr sz="1500" b="1" i="0" u="none" dirty="0">
              <a:solidFill>
                <a:srgbClr val="16A34A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48510" y="3786187"/>
            <a:ext cx="114691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AR" sz="1500" b="1" i="0" u="none" dirty="0">
                <a:solidFill>
                  <a:srgbClr val="0284C7"/>
                </a:solidFill>
                <a:latin typeface="Plus Jakarta Sans"/>
              </a:rPr>
              <a:t>Eventos suben</a:t>
            </a:r>
            <a:endParaRPr sz="15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37548" y="4161055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3748" y="4159150"/>
            <a:ext cx="4283032" cy="218008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Reutilización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componentes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diferentes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pantallas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7548" y="4374326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3748" y="4372421"/>
            <a:ext cx="4437946" cy="218008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Fuente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única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de la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verdad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(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evita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datos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desincronizados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7548" y="4587597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C4A6E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3748" y="4585692"/>
            <a:ext cx="5020926" cy="218008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Facilidad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para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realizar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pruebas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unitarias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sobre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0C4A6E"/>
                </a:solidFill>
                <a:latin typeface="Plus Jakarta Sans"/>
              </a:rPr>
              <a:t>componentes</a:t>
            </a:r>
            <a:r>
              <a:rPr sz="1500" b="0" i="0" u="none" dirty="0">
                <a:solidFill>
                  <a:srgbClr val="0C4A6E"/>
                </a:solidFill>
                <a:latin typeface="Plus Jakarta Sans"/>
              </a:rPr>
              <a:t>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81237"/>
            <a:ext cx="5324475" cy="2952750"/>
          </a:xfrm>
          <a:prstGeom prst="roundRect">
            <a:avLst>
              <a:gd name="adj" fmla="val 387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62675" y="2209800"/>
            <a:ext cx="5419725" cy="3095625"/>
          </a:xfrm>
          <a:prstGeom prst="roundRect">
            <a:avLst>
              <a:gd name="adj" fmla="val 3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0" y="2743200"/>
            <a:ext cx="4943475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0" y="3981450"/>
            <a:ext cx="4943475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62725" y="3409950"/>
            <a:ext cx="857250" cy="257175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62725" y="4648200"/>
            <a:ext cx="857250" cy="257175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Modularity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Creación de Componentes Reutilizables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71737"/>
            <a:ext cx="5038725" cy="2698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@Composable</a:t>
            </a:r>
            <a:r>
              <a:rPr sz="1500" dirty="0"/>
              <a:t>
</a:t>
            </a:r>
            <a:r>
              <a:rPr sz="1500" b="0" i="0" u="none" dirty="0">
                <a:solidFill>
                  <a:srgbClr val="F43F5E"/>
                </a:solidFill>
                <a:latin typeface="JetBrains Mono"/>
              </a:rPr>
              <a:t>fun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3DDC84"/>
                </a:solidFill>
                <a:latin typeface="JetBrains Mono"/>
              </a:rPr>
              <a:t>RestaurantCard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nombre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: String,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direccion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: String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Card(modifier =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Modifier.fillMaxWidth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())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Column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  Text(text =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nombre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  Text(text =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direccion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  Button(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onClick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= { </a:t>
            </a:r>
            <a:r>
              <a:rPr sz="1500" b="0" i="0" u="none" dirty="0">
                <a:solidFill>
                  <a:srgbClr val="64748B"/>
                </a:solidFill>
                <a:latin typeface="JetBrains Mono"/>
              </a:rPr>
              <a:t>/* ... */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})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    Text(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"Ver </a:t>
            </a:r>
            <a:r>
              <a:rPr sz="1500" b="0" i="0" u="none" dirty="0" err="1">
                <a:solidFill>
                  <a:srgbClr val="38BDF8"/>
                </a:solidFill>
                <a:latin typeface="JetBrains Mono"/>
              </a:rPr>
              <a:t>detalles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47925"/>
            <a:ext cx="204344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64748B"/>
                </a:solidFill>
                <a:latin typeface="Plus Jakarta Sans"/>
              </a:rPr>
              <a:t>REPRESENTACIÓN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905125"/>
            <a:ext cx="90653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La Trattoria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143250"/>
            <a:ext cx="129753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Av. Belgrano 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3467100"/>
            <a:ext cx="7239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Ver detalles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143375"/>
            <a:ext cx="107612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Burger 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381500"/>
            <a:ext cx="161743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Plus Jakarta Sans"/>
              </a:rPr>
              <a:t>Calle San Martín 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4705350"/>
            <a:ext cx="7239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Ver detalles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9800" y="2439441"/>
            <a:ext cx="5562600" cy="2636192"/>
          </a:xfrm>
          <a:prstGeom prst="roundRect">
            <a:avLst>
              <a:gd name="adj" fmla="val 433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62287"/>
            <a:ext cx="3429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52862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3157537"/>
            <a:ext cx="1714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3948112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Herramientas</a:t>
            </a:r>
            <a:endParaRPr sz="15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Previsualización en Android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668041"/>
            <a:ext cx="5200650" cy="225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@Preview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(name = 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"Modo Claro"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@Preview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(name = 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"Modo </a:t>
            </a:r>
            <a:r>
              <a:rPr sz="1500" b="0" i="0" u="none" dirty="0" err="1">
                <a:solidFill>
                  <a:srgbClr val="38BDF8"/>
                </a:solidFill>
                <a:latin typeface="JetBrains Mono"/>
              </a:rPr>
              <a:t>Oscuro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,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showBackground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= </a:t>
            </a:r>
            <a:r>
              <a:rPr sz="1500" b="0" i="0" u="none" dirty="0">
                <a:solidFill>
                  <a:srgbClr val="F59E0B"/>
                </a:solidFill>
                <a:latin typeface="JetBrains Mono"/>
              </a:rPr>
              <a:t>true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@Composable</a:t>
            </a:r>
            <a:r>
              <a:rPr sz="1500" dirty="0"/>
              <a:t>
</a:t>
            </a:r>
            <a:r>
              <a:rPr sz="1500" b="0" i="0" u="none" dirty="0">
                <a:solidFill>
                  <a:srgbClr val="F43F5E"/>
                </a:solidFill>
                <a:latin typeface="JetBrains Mono"/>
              </a:rPr>
              <a:t>fun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3DDC84"/>
                </a:solidFill>
                <a:latin typeface="JetBrains Mono"/>
              </a:rPr>
              <a:t>PreviewRestaurantCard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MiTema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RestaurantCard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  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nombre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= 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"La Trattoria"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,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  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direccion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= </a:t>
            </a:r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"Av. Belgrano 250"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062287"/>
            <a:ext cx="167398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Anotación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@Preview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319462"/>
            <a:ext cx="47053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Permite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observar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interfaz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tiempo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real sin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ejecutar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emulador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ni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compilar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aplicación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completa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852862"/>
            <a:ext cx="207223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Multiples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Configuraciones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4900" y="4110037"/>
            <a:ext cx="47053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Inspección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simultánea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distintos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tamaños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pantalla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temas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(Dark/Light Mode) y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escalas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texto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9105" y="2767012"/>
            <a:ext cx="3731419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67012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67012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33600" y="30051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67400" y="30051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0" y="30051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Estrategia</a:t>
            </a:r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 de </a:t>
            </a:r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Adopción</a:t>
            </a:r>
            <a:endParaRPr sz="15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Convivencia e Interoperabilidad con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0725" y="30051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4693" y="3614737"/>
            <a:ext cx="191501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Nuevas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Funcionalidades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9106" y="3910012"/>
            <a:ext cx="378618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Iniciar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adopción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construyendo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nuevas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pantallas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fragmentos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completos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Compose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dentro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la App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existente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4525" y="30051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5647" y="3614737"/>
            <a:ext cx="140070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Biblioteca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Común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02906" y="3910012"/>
            <a:ext cx="378618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Identificar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componentes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UI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repetidos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extraerlos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una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librería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compartida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composables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reutilizables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58325" y="30051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1541" y="3614737"/>
            <a:ext cx="155651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Sustitución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Gradual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706" y="3910012"/>
            <a:ext cx="378618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Reemplazar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pantallas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XML legacy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una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una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asegurando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estabilidad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mediante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pruebas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unitarias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5657"/>
            <a:ext cx="4738241" cy="1763910"/>
          </a:xfrm>
          <a:prstGeom prst="roundRect">
            <a:avLst>
              <a:gd name="adj" fmla="val 647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76491" y="2557462"/>
            <a:ext cx="5605908" cy="2400300"/>
          </a:xfrm>
          <a:prstGeom prst="roundRect">
            <a:avLst>
              <a:gd name="adj" fmla="val 476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6516" y="3328987"/>
            <a:ext cx="5205858" cy="142875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441" y="3662362"/>
            <a:ext cx="17145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284C7"/>
                </a:solidFill>
                <a:latin typeface="Plus Jakarta Sans"/>
              </a:rPr>
              <a:t>Caso </a:t>
            </a:r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Práctico</a:t>
            </a:r>
            <a:endParaRPr sz="15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Migración de RecyclerView a Listas Diferidas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6991" y="2747962"/>
            <a:ext cx="532015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0284C7"/>
                </a:solidFill>
                <a:latin typeface="Plus Jakarta Sans"/>
              </a:rPr>
              <a:t>Compose Equivalent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123307"/>
            <a:ext cx="1020729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AR" sz="1300" b="1" i="0" u="none" dirty="0">
                <a:solidFill>
                  <a:srgbClr val="EF4444"/>
                </a:solidFill>
                <a:latin typeface="Plus Jakarta Sans"/>
              </a:rPr>
              <a:t>LEGACY VIEWS</a:t>
            </a:r>
            <a:endParaRPr sz="1300" b="1" i="0" u="none" dirty="0">
              <a:solidFill>
                <a:srgbClr val="EF4444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9625" y="3313807"/>
            <a:ext cx="106138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RecyclerView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6516" y="2995612"/>
            <a:ext cx="60154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369A1"/>
                </a:solidFill>
                <a:latin typeface="Plus Jakarta Sans"/>
              </a:rPr>
              <a:t>LazyColumn</a:t>
            </a:r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 / </a:t>
            </a:r>
            <a:r>
              <a:rPr sz="1350" b="1" i="0" u="none" dirty="0" err="1">
                <a:solidFill>
                  <a:srgbClr val="0369A1"/>
                </a:solidFill>
                <a:latin typeface="Plus Jakarta Sans"/>
              </a:rPr>
              <a:t>LazyRow</a:t>
            </a:r>
            <a:endParaRPr sz="1350" b="1" i="0" u="none" dirty="0">
              <a:solidFill>
                <a:srgbClr val="0369A1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0816" y="3443287"/>
            <a:ext cx="5072508" cy="1262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composeView.setContent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LazyColumn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Modifier.fillMaxSize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()) {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items(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listaRestaurantes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 { item -&gt;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  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RestaurantCard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item.nombre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, </a:t>
            </a:r>
            <a:r>
              <a:rPr sz="1500" b="0" i="0" u="none" dirty="0" err="1">
                <a:solidFill>
                  <a:srgbClr val="F8FAFC"/>
                </a:solidFill>
                <a:latin typeface="JetBrains Mono"/>
              </a:rPr>
              <a:t>item.dir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)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  }</a:t>
            </a:r>
            <a:r>
              <a:rPr sz="1500" dirty="0"/>
              <a:t>
</a:t>
            </a:r>
            <a:r>
              <a:rPr sz="1500" b="0" i="0" u="none" dirty="0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646229"/>
            <a:ext cx="66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647182"/>
            <a:ext cx="2059153" cy="205184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Requiere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LayoutManager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844319"/>
            <a:ext cx="66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845272"/>
            <a:ext cx="2768900" cy="205184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Creación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RecyclerView.Adapter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4042410"/>
            <a:ext cx="66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043362"/>
            <a:ext cx="2572371" cy="205184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Implementación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ViewHolder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4240500"/>
            <a:ext cx="66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90625"/>
            <a:ext cx="3505200" cy="51339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190625"/>
            <a:ext cx="3505200" cy="51339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190625"/>
            <a:ext cx="3505200" cy="51339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38475"/>
            <a:ext cx="2952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38475"/>
            <a:ext cx="2952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38487"/>
            <a:ext cx="2952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284C7"/>
                </a:solidFill>
                <a:latin typeface="Plus Jakarta Sans"/>
              </a:rPr>
              <a:t>Síntesis</a:t>
            </a:r>
            <a:endParaRPr sz="15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Conclusiones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381375"/>
            <a:ext cx="239636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Transformación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del Desarrollo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76650"/>
            <a:ext cx="304800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Elimina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manipulación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imperativa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del DOM visual. 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relación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directa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entre Estado 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Interfaz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simplify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mantenimiento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y reduce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errores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381375"/>
            <a:ext cx="141365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Control de Estado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676650"/>
            <a:ext cx="304800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Requiere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comprender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ciclo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vida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los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componibles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patrón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elevación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estado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para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construir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componentes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desacoplados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legibles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5742" y="3381375"/>
            <a:ext cx="147405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Transición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Gradual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677725"/>
            <a:ext cx="304800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La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interoperabilidad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nativa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facilita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una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adopción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progresiva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sin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necesidad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reescribir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aplicaciones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existentes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desde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cero.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600" y="809625"/>
            <a:ext cx="145353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2400" b="1" i="0" u="none" dirty="0">
                <a:solidFill>
                  <a:srgbClr val="0F172A"/>
                </a:solidFill>
                <a:latin typeface="Plus Jakarta Sans"/>
              </a:rPr>
              <a:t>Bibliografía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F2629E7-2FC8-032A-3564-21847CBD04D6}"/>
              </a:ext>
            </a:extLst>
          </p:cNvPr>
          <p:cNvSpPr txBox="1"/>
          <p:nvPr/>
        </p:nvSpPr>
        <p:spPr>
          <a:xfrm>
            <a:off x="737419" y="1386348"/>
            <a:ext cx="11282516" cy="453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Clr>
                <a:srgbClr val="215E99"/>
              </a:buClr>
              <a:buFont typeface="Symbol" panose="05050102010706020507" pitchFamily="18" charset="2"/>
              <a:buChar char=""/>
            </a:pP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Cómo pensar en Compose. </a:t>
            </a:r>
          </a:p>
          <a:p>
            <a:pPr lvl="0">
              <a:lnSpc>
                <a:spcPct val="115000"/>
              </a:lnSpc>
              <a:buClr>
                <a:srgbClr val="215E99"/>
              </a:buClr>
            </a:pPr>
            <a:r>
              <a:rPr lang="es-AR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https://developer.android.com/develop/ui/compose/mental-model?hl=es-419</a:t>
            </a:r>
            <a:endParaRPr lang="es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215E99"/>
              </a:buClr>
              <a:buFont typeface="Symbol" panose="05050102010706020507" pitchFamily="18" charset="2"/>
              <a:buChar char=""/>
            </a:pP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Aspectos básicos de Jetpack Compose. </a:t>
            </a:r>
          </a:p>
          <a:p>
            <a:pPr lvl="0">
              <a:lnSpc>
                <a:spcPct val="115000"/>
              </a:lnSpc>
              <a:buClr>
                <a:srgbClr val="215E99"/>
              </a:buClr>
            </a:pPr>
            <a:r>
              <a:rPr lang="es-AR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https://developer.android.com/codelabs/jetpack-compose-basics?hl=es-419#0</a:t>
            </a:r>
            <a:endParaRPr lang="es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215E99"/>
              </a:buClr>
              <a:buFont typeface="Symbol" panose="05050102010706020507" pitchFamily="18" charset="2"/>
              <a:buChar char=""/>
            </a:pP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Ciclo de vida de los elementos  componibles.</a:t>
            </a:r>
            <a:endParaRPr lang="es-AR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Clr>
                <a:srgbClr val="215E99"/>
              </a:buClr>
            </a:pPr>
            <a:r>
              <a:rPr lang="es-AR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https://developer.android.com/develop/ui/compose/lifecycle?hl=es-419</a:t>
            </a:r>
            <a:endParaRPr lang="es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215E99"/>
              </a:buClr>
              <a:buFont typeface="Symbol" panose="05050102010706020507" pitchFamily="18" charset="2"/>
              <a:buChar char=""/>
            </a:pP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estado y Jetpack Compose</a:t>
            </a:r>
            <a:r>
              <a:rPr lang="es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15000"/>
              </a:lnSpc>
              <a:buClr>
                <a:srgbClr val="215E99"/>
              </a:buClr>
            </a:pPr>
            <a:r>
              <a:rPr lang="es-AR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https://developer.android.com/develop/ui/compose/state?hl=es-419</a:t>
            </a:r>
            <a:endParaRPr lang="es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215E99"/>
              </a:buClr>
              <a:buFont typeface="Symbol" panose="05050102010706020507" pitchFamily="18" charset="2"/>
              <a:buChar char=""/>
            </a:pP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Previsualización</a:t>
            </a:r>
            <a:r>
              <a:rPr lang="es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15000"/>
              </a:lnSpc>
              <a:buClr>
                <a:srgbClr val="215E99"/>
              </a:buClr>
            </a:pPr>
            <a:r>
              <a:rPr lang="es-AR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https://developer.android.com/develop/ui/compose/tooling/previews?hl=es-419</a:t>
            </a:r>
            <a:endParaRPr lang="es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215E99"/>
              </a:buClr>
              <a:buFont typeface="Symbol" panose="05050102010706020507" pitchFamily="18" charset="2"/>
              <a:buChar char=""/>
            </a:pP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Estrategia de migración </a:t>
            </a:r>
          </a:p>
          <a:p>
            <a:pPr lvl="0">
              <a:lnSpc>
                <a:spcPct val="115000"/>
              </a:lnSpc>
              <a:buClr>
                <a:srgbClr val="215E99"/>
              </a:buClr>
            </a:pPr>
            <a:r>
              <a:rPr lang="es-AR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https://developer.android.com/develop/ui/compose/migrate/strategy?hl=es-419</a:t>
            </a:r>
            <a:endParaRPr lang="es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215E99"/>
              </a:buClr>
              <a:buFont typeface="Symbol" panose="05050102010706020507" pitchFamily="18" charset="2"/>
              <a:buChar char=""/>
            </a:pP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Cómo usar Compose en Views.</a:t>
            </a:r>
            <a:endParaRPr lang="es-AR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Clr>
                <a:srgbClr val="215E99"/>
              </a:buClr>
            </a:pPr>
            <a:r>
              <a:rPr lang="es-AR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8"/>
              </a:rPr>
              <a:t>https://developer.android.com/develop/ui/compose/migrate/interoperability-apis/compose-in-views?hl=es-419</a:t>
            </a:r>
            <a:endParaRPr lang="es-A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81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0" y="4252912"/>
            <a:ext cx="38100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91000" y="4252912"/>
            <a:ext cx="3810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962" y="2195512"/>
            <a:ext cx="600075" cy="53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70859" y="2957512"/>
            <a:ext cx="225028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F8FAFC"/>
                </a:solidFill>
                <a:latin typeface="Plus Jakarta Sans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494" y="4491037"/>
            <a:ext cx="1881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Plus Jakarta Sans"/>
              </a:rPr>
              <a:t>Guido Sebastián Alvarez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063" y="4491037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7639" y="4491037"/>
            <a:ext cx="10763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Plus Jakarta Sans"/>
              </a:rPr>
              <a:t>UNSE FCEyT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1140</Words>
  <Application>Microsoft Office PowerPoint</Application>
  <PresentationFormat>Panorámica</PresentationFormat>
  <Paragraphs>134</Paragraphs>
  <Slides>13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Calibri</vt:lpstr>
      <vt:lpstr>Plus Jakarta Sans</vt:lpstr>
      <vt:lpstr>Arial</vt:lpstr>
      <vt:lpstr>Aptos</vt:lpstr>
      <vt:lpstr>JetBrains Mono</vt:lpstr>
      <vt:lpstr>Symbol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Guido</cp:lastModifiedBy>
  <cp:revision>2</cp:revision>
  <dcterms:created xsi:type="dcterms:W3CDTF">2013-01-27T09:14:16Z</dcterms:created>
  <dcterms:modified xsi:type="dcterms:W3CDTF">2026-10-22T04:03:12Z</dcterms:modified>
  <cp:category/>
</cp:coreProperties>
</file>